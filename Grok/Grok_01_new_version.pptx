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474E-E7A9-474F-B01A-A0345BA3355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2F3D-8F62-482E-AFF5-01BF020F0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99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474E-E7A9-474F-B01A-A0345BA3355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2F3D-8F62-482E-AFF5-01BF020F0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002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474E-E7A9-474F-B01A-A0345BA3355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2F3D-8F62-482E-AFF5-01BF020F0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1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474E-E7A9-474F-B01A-A0345BA3355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2F3D-8F62-482E-AFF5-01BF020F0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4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474E-E7A9-474F-B01A-A0345BA3355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2F3D-8F62-482E-AFF5-01BF020F0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13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474E-E7A9-474F-B01A-A0345BA3355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2F3D-8F62-482E-AFF5-01BF020F0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59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474E-E7A9-474F-B01A-A0345BA3355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2F3D-8F62-482E-AFF5-01BF020F0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18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474E-E7A9-474F-B01A-A0345BA3355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2F3D-8F62-482E-AFF5-01BF020F0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88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474E-E7A9-474F-B01A-A0345BA3355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2F3D-8F62-482E-AFF5-01BF020F0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2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474E-E7A9-474F-B01A-A0345BA3355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2F3D-8F62-482E-AFF5-01BF020F0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1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474E-E7A9-474F-B01A-A0345BA3355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2F3D-8F62-482E-AFF5-01BF020F0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5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2474E-E7A9-474F-B01A-A0345BA3355D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A2F3D-8F62-482E-AFF5-01BF020F0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7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893604" y="2565926"/>
            <a:ext cx="6463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813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88177" y="565379"/>
            <a:ext cx="9857186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Evaluation of Grok-3 Model in Multi-Language Battles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 Multi-model battle evaluations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Focus: Measuring Grok-3’s strengths and weaknesses across languages and other models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used: Python, Pandas,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Grok Team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understand how Grok performs compared to other LLMs in real evaluation battles.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67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69" y="-136037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 and Features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3900" y="928160"/>
            <a:ext cx="7346883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24 columns representing model interactions and outcomes and 5180 record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row = one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between two models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columns: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model_a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model_b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winner, language,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user_prompt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response_a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response_b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Additional flags: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grok_in_a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grok_in_b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timestamp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captures both the content and outcome of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model-to-model evaluations.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411" y="2488223"/>
            <a:ext cx="4924425" cy="426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794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131" y="-109660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Battles Were Evaluated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8730" y="1387529"/>
            <a:ext cx="786196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battle compares Grok-3 against another model (Gemini, Claude, GPT, etc.)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“winner” column defines which response was preferred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Analytical objectives: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 Grok’s win rate per opponent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 Grok’s win rate per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Qualitatively inspect loss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8730" y="5101689"/>
            <a:ext cx="83409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Grok’s results were analyzed both quantitatively and qualitatively.</a:t>
            </a:r>
          </a:p>
        </p:txBody>
      </p:sp>
    </p:spTree>
    <p:extLst>
      <p:ext uri="{BB962C8B-B14F-4D97-AF65-F5344CB8AC3E}">
        <p14:creationId xmlns:p14="http://schemas.microsoft.com/office/powerpoint/2010/main" val="2376968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546" y="-144829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Battle Results (Winner column)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85446" y="1323010"/>
            <a:ext cx="745588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model_a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Model A wins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model_b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Model B wins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Equal performance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both_bad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Both responses unsatisfactory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the first three were used for the main analysis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“Both bad” results (~10%) were excluded from win-rate analysis to avoid bias.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25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039" y="0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Distribution of Grok Battles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65992" y="940426"/>
            <a:ext cx="668003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battles analyzed: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≈ 5180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Wins: </a:t>
            </a:r>
            <a:r>
              <a:rPr lang="en-US" dirty="0"/>
              <a:t>1963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Losses: 1875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Ties: 829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bad: 517 (excluded)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win rate ≈ 48 %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Grok performs competitively but not dominantly across all opponents.</a:t>
            </a:r>
          </a:p>
        </p:txBody>
      </p:sp>
    </p:spTree>
    <p:extLst>
      <p:ext uri="{BB962C8B-B14F-4D97-AF65-F5344CB8AC3E}">
        <p14:creationId xmlns:p14="http://schemas.microsoft.com/office/powerpoint/2010/main" val="3441672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AF2F8-A9CF-28CB-DDAA-06A0198A0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DF78-EBA0-D944-65C6-18027539E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39" y="0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Grok Team: Feature Analysis &amp; Win Patterns in Arena Matches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93A45BB-1901-1806-E917-BEEA752DF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92" y="1632919"/>
            <a:ext cx="385874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winner_name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grok-3-preview-02-24    1055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grok-4-0709           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281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grok-3-mini-beta       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22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grok-3-mini-high          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8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Grok-3-preview-02-24</a:t>
            </a:r>
            <a:r>
              <a:rPr kumimoji="0" lang="fa-I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best classes .</a:t>
            </a:r>
          </a:p>
        </p:txBody>
      </p:sp>
    </p:spTree>
    <p:extLst>
      <p:ext uri="{BB962C8B-B14F-4D97-AF65-F5344CB8AC3E}">
        <p14:creationId xmlns:p14="http://schemas.microsoft.com/office/powerpoint/2010/main" val="252781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EF8998-86AB-5DBB-A877-693F8717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FA04A-9469-517E-210A-84706E5D3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39" y="0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Grok Team: Win Rate Analysis &amp; Feature Impact on Arena Success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B0A0B63-3EC8-6ADD-72A5-934CE9971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31" y="1067978"/>
            <a:ext cx="325602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Grok win percentage: 53.35%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Grok loss percentage: 46.65%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85E642-79BB-502D-C50A-875BAF563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318" y="1945141"/>
            <a:ext cx="543877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44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F6A46-444B-19CE-1D7C-E2E62493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85FF8-25D8-124B-2E53-EAEE934D6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39" y="0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Grok Team: Feature Correlation Analysis &amp; Win Drivers in LLM Arena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715CEA-CAB1-5027-E2A1-3A74F6D09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594" y="1217422"/>
            <a:ext cx="5105414" cy="4618653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6C446B2A-462B-F7C8-40D7-D0791B4FA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92" y="1217422"/>
            <a:ext cx="672652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winner_mapped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is_code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+0.23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tokens_a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+0.17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problem_solving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+0.16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specificity         +0.14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bold_count_a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+0.11</a:t>
            </a:r>
            <a:r>
              <a:rPr lang="fa-I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usage has the strongest positive correlation with winning (+0.23)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Longer, structured responses (tokens, bold, lists) favor Grok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 &amp; specificity are critical success factors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inter-feature correlation → risk of multicollinearity.</a:t>
            </a:r>
          </a:p>
        </p:txBody>
      </p:sp>
    </p:spTree>
    <p:extLst>
      <p:ext uri="{BB962C8B-B14F-4D97-AF65-F5344CB8AC3E}">
        <p14:creationId xmlns:p14="http://schemas.microsoft.com/office/powerpoint/2010/main" val="3135578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CCCD2-DFD2-1CF2-1CF4-70994B1EE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C7CC-B26E-BAD9-6866-4B994F3B5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39" y="0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Grok Team: Feature Correlation Analysis &amp; Win Drivers in LLM Arena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FE1E4-5F16-8813-C1C9-5BD362F66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594" y="1217422"/>
            <a:ext cx="5105414" cy="4618653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8F7184C1-1455-B419-6AF0-C692ED653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9921"/>
            <a:ext cx="677402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sum_assistant_a_tokens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↔ sum_header_count_a,+0.49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sum_list_count_a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↔ sum_bold_count_a,+0.76</a:t>
            </a:r>
            <a:endParaRPr lang="fa-I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sum_header_count_b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↔ sum_list_count_b,+0.63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criteria_v0.1_problem_solving ↔ criteria_v0.1_real_world,+0.55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fa-I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771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6FEC92-B6BB-7D5D-3D83-4174C1E06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51E79-BD6F-EDDB-4240-8B3E9FD89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39" y="0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Grok Team: What These Distributions Really Show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528E525-250C-C421-B397-1DB691B87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1865327"/>
            <a:ext cx="892939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Formatting features (tokens, headers, lists, bold)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right-skewed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very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similar across all winners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they barely help explain who wins.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Task-type flags (creative writing, problem solving, real-world, technical, IF, math, code) are mostly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evenly spread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Grok / Other Model / Tie / Both Bad → they describe the task, not the winner.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“Both Bad” answers are a bit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structured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overlap with others is large → only a weak signal of low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 these features are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secondary context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real win/loss patterns must come from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content/quality features or direct A–B comparisons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just formatting or task type.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144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C237E-37F6-37AE-5597-9737F398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D045-AA9F-EA66-44DF-4F36E18DF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39" y="0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Grok Team: Winner–Loser Style Gap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D5A672F-F714-139F-F067-95FC93D43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02" y="1325563"/>
            <a:ext cx="563879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Chart shows the average absolute gap in tokens, headers, lists, and bold between the winning and losing answer.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every feature, this gap is larger when Grok wins than when Other Model wins.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Grok’s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wins tend to happen when the winner’s answer is much more different in length/format from the loser’s answer.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23AB6C-FDD7-C752-2BEE-3B01FEE16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509" y="3007762"/>
            <a:ext cx="5584789" cy="385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133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686DE-726E-E105-366A-4C73CB49C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2A5F-8843-ABF7-FC99-46E4717E7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39" y="0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Grok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Team:Grok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Dominates Wins with Heavily Formatted, Lengthy Response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892BE56-BCBB-6555-34CE-1B96395A1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01" y="1119818"/>
            <a:ext cx="563879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Tokens: Grok wins yield +294% more tokens vs. +88% for Other Model</a:t>
            </a:r>
            <a:endParaRPr kumimoji="0" lang="fa-I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.Bold: +186% (Grok) vs. +51% (Other).</a:t>
            </a:r>
            <a:endParaRPr kumimoji="0" lang="fa-I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Lists: +232% (Grok) vs. +15% (Other).</a:t>
            </a:r>
            <a:endParaRPr kumimoji="0" lang="fa-IR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Headers: +112% (Grok) vs. -36% (Other)</a:t>
            </a:r>
            <a:endParaRPr lang="fa-IR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a-IR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a-IR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a-IR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a-IR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 Users strongly prefer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Grok’s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rich, structured, and verbose style; the Other Model wins more often with simpler, concise outputs.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0A641D-D932-0C0A-FF56-5AD2AA4B9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580" y="2966477"/>
            <a:ext cx="6298733" cy="378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800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02F4C4-FAD9-4559-158B-17D9C44D1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0F2C-1D5E-094D-341F-15356112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039" y="0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Grok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Team:The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Decisive Factor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Grok's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 and Failure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38A8763-71DC-2F1C-FEC6-0C1CCBC7C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983019"/>
            <a:ext cx="563879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Headers drive 238% difference in Grok wins — the single most powerful predictor of victory.</a:t>
            </a:r>
            <a:endParaRPr kumimoji="0" lang="fa-I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losses, even Grok uses 70% fewer headers than in its wins — formatting collapse causes defeat.</a:t>
            </a:r>
            <a:endParaRPr kumimoji="0" lang="fa-I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Ties occur when both models match winner-level formatting (differences &lt;13%).</a:t>
            </a:r>
            <a:endParaRPr kumimoji="0" lang="fa-I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 length matters least — it’s structure, not volume, that wins.</a:t>
            </a:r>
            <a:endParaRPr kumimoji="0" lang="fa-I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Conclusion:Grok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wins by mastering structured, hierarchical formatting — especially headers. Without it, it loses. Ties are "double wins" in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formatting.To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beat Grok: Use more headers than Grok does in its best games</a:t>
            </a:r>
            <a:endParaRPr kumimoji="0" lang="fa-IR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F27D6A-066B-9996-BD99-0CED0D7DA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087" y="983019"/>
            <a:ext cx="4714874" cy="28098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0DB36D-5FD5-E393-1F11-71B5AEE4A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087" y="4048126"/>
            <a:ext cx="4710111" cy="2809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224AB0-5DD5-A5E2-2FCC-BCAA5D92B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70" y="3928496"/>
            <a:ext cx="4849974" cy="289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458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324" y="-149469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Grok Performance Across Languages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74785" y="1048565"/>
            <a:ext cx="873955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win rates: French, Polish, Japanese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Moderate: Persian (≈ 52 %), Korean (≈ 49 %)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Weakest: Spanish, Turkish, Arabic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Only languages with ≥ 30 matches were considered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Grok’s multilingual ability is strong overall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 uneven across regions.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145" y="1960684"/>
            <a:ext cx="5993423" cy="471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78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324" y="-149469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Where Grok Struggled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74785" y="1325565"/>
            <a:ext cx="873955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subset: Opponents with Grok win rate &lt; 35 %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rivals: Claude-3-Sonnet, Gemini 2.5 Pro, O3-series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limited to battles Grok lost against these models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 prompts and responses qualitatively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consistently outperform Grok in reasoning and clarity tasks.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438" y="2139363"/>
            <a:ext cx="52578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36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324" y="-149469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Analysis — Persian Losses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160962"/>
              </p:ext>
            </p:extLst>
          </p:nvPr>
        </p:nvGraphicFramePr>
        <p:xfrm>
          <a:off x="512885" y="1511312"/>
          <a:ext cx="10515600" cy="23774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4296010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354165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196503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655478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881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response 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Grok answers are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253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line 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Grok is more verbose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4580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List-style responses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72.7 %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63.6 %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 structured; Grok overuses lists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392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prompt length (chars)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 prompts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9642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924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324" y="-149469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Analysis — English Losses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299264"/>
              </p:ext>
            </p:extLst>
          </p:nvPr>
        </p:nvGraphicFramePr>
        <p:xfrm>
          <a:off x="944084" y="1176094"/>
          <a:ext cx="9811840" cy="4398120"/>
        </p:xfrm>
        <a:graphic>
          <a:graphicData uri="http://schemas.openxmlformats.org/drawingml/2006/table">
            <a:tbl>
              <a:tblPr/>
              <a:tblGrid>
                <a:gridCol w="2452960">
                  <a:extLst>
                    <a:ext uri="{9D8B030D-6E8A-4147-A177-3AD203B41FA5}">
                      <a16:colId xmlns:a16="http://schemas.microsoft.com/office/drawing/2014/main" val="958248779"/>
                    </a:ext>
                  </a:extLst>
                </a:gridCol>
                <a:gridCol w="2452960">
                  <a:extLst>
                    <a:ext uri="{9D8B030D-6E8A-4147-A177-3AD203B41FA5}">
                      <a16:colId xmlns:a16="http://schemas.microsoft.com/office/drawing/2014/main" val="2394450400"/>
                    </a:ext>
                  </a:extLst>
                </a:gridCol>
                <a:gridCol w="2452960">
                  <a:extLst>
                    <a:ext uri="{9D8B030D-6E8A-4147-A177-3AD203B41FA5}">
                      <a16:colId xmlns:a16="http://schemas.microsoft.com/office/drawing/2014/main" val="176194043"/>
                    </a:ext>
                  </a:extLst>
                </a:gridCol>
                <a:gridCol w="2452960">
                  <a:extLst>
                    <a:ext uri="{9D8B030D-6E8A-4147-A177-3AD203B41FA5}">
                      <a16:colId xmlns:a16="http://schemas.microsoft.com/office/drawing/2014/main" val="2911966708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Grok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Opponent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903246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Response Length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5149 chars</a:t>
                      </a:r>
                      <a:endParaRPr lang="en-US" sz="1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3273 chars</a:t>
                      </a:r>
                      <a:endParaRPr lang="en-US" sz="1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Grok’s replies are about 57 % longer → tendency toward verbosity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7634516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Line Count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79.5 lines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62.1 lines</a:t>
                      </a:r>
                      <a:endParaRPr lang="en-US" sz="1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Grok writes more paragraphs → less concise structure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401872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List-Style Responses (%)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84.8 %</a:t>
                      </a: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78.0 %</a:t>
                      </a:r>
                      <a:endParaRPr lang="en-US" sz="1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 use lists, but Grok relies on enumeration more heavily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0217999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Prompt Length (chars)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540.9</a:t>
                      </a:r>
                      <a:endParaRPr lang="en-US" sz="1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 prompts are roughly 4× longer than Persian ones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9267032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Avg. Prompt Length (words)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69.1</a:t>
                      </a:r>
                      <a:endParaRPr lang="en-US" sz="17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Complex, multi-step instructions are common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179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942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324" y="-149469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Analysis — English Losses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2369" y="1043832"/>
            <a:ext cx="8484577" cy="3782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English battles, Grok produces significantly longer and more structured answers than its</a:t>
            </a:r>
            <a:r>
              <a:rPr lang="fa-I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opponents,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yet it still loses in overall evaluation.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indicate that Grok’s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verbosity does not translate to higher quality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responses often include redundant reasoning or loosely connected facts.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Opponent models (Claude, Gemini, O-series) typically provide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shorter, logically cohesive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explanations that better follow the prompt’s intent.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longer prompts suggest higher reasoning complexity, exposing Grok’s difficulty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coherence over extended instructions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92369" y="520047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fa-I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a-I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Grok’s English responses are fluent and rich in detail but lose due to redundancy and limited reasoning precision.</a:t>
            </a:r>
          </a:p>
        </p:txBody>
      </p:sp>
    </p:spTree>
    <p:extLst>
      <p:ext uri="{BB962C8B-B14F-4D97-AF65-F5344CB8AC3E}">
        <p14:creationId xmlns:p14="http://schemas.microsoft.com/office/powerpoint/2010/main" val="2451136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324" y="-149469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Persian vs English — Comparative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679355"/>
              </p:ext>
            </p:extLst>
          </p:nvPr>
        </p:nvGraphicFramePr>
        <p:xfrm>
          <a:off x="899746" y="1722328"/>
          <a:ext cx="10515600" cy="23774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3313102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171783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066553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86790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7537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 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Persian answers verbose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876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(lists 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~55 %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Persian more structured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521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Prompt length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 prompts more detailed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54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Reasoning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reasoning in English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67097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99746" y="4890673"/>
            <a:ext cx="89300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Grok writes fluently in Persian but shows weaker reasoning control compared to English.</a:t>
            </a:r>
          </a:p>
        </p:txBody>
      </p:sp>
    </p:spTree>
    <p:extLst>
      <p:ext uri="{BB962C8B-B14F-4D97-AF65-F5344CB8AC3E}">
        <p14:creationId xmlns:p14="http://schemas.microsoft.com/office/powerpoint/2010/main" val="2986417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324" y="-149469"/>
            <a:ext cx="105156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Insights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15461" y="1076745"/>
            <a:ext cx="696216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Grok’s global win rate ≈ 48 %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in structured factual queries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Weak in concise reasoning tasks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Persian outputs are verbose and less precise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English outputs are concise but still lose in reasoning depth</a:t>
            </a:r>
            <a:endParaRPr kumimoji="0" lang="fa-I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fa-I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kumimoji="0" lang="fa-IR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Grok balances fluency and verbosity but needs reasoning-focused tuning.</a:t>
            </a:r>
          </a:p>
        </p:txBody>
      </p:sp>
    </p:spTree>
    <p:extLst>
      <p:ext uri="{BB962C8B-B14F-4D97-AF65-F5344CB8AC3E}">
        <p14:creationId xmlns:p14="http://schemas.microsoft.com/office/powerpoint/2010/main" val="3747192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1435</Words>
  <Application>Microsoft Office PowerPoint</Application>
  <PresentationFormat>Widescreen</PresentationFormat>
  <Paragraphs>256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Dataset Structure and Features</vt:lpstr>
      <vt:lpstr>How the Battles Were Evaluated</vt:lpstr>
      <vt:lpstr>Classification of Battle Results (Winner column)</vt:lpstr>
      <vt:lpstr>Global Distribution of Grok Battles</vt:lpstr>
      <vt:lpstr>Grok Team: Feature Analysis &amp; Win Patterns in Arena Matches</vt:lpstr>
      <vt:lpstr>Grok Team: Win Rate Analysis &amp; Feature Impact on Arena Success</vt:lpstr>
      <vt:lpstr>Grok Team: Feature Correlation Analysis &amp; Win Drivers in LLM Arena</vt:lpstr>
      <vt:lpstr>Grok Team: Feature Correlation Analysis &amp; Win Drivers in LLM Arena</vt:lpstr>
      <vt:lpstr>Grok Team: What These Distributions Really Show</vt:lpstr>
      <vt:lpstr>Grok Team: Winner–Loser Style Gap</vt:lpstr>
      <vt:lpstr>Grok Team:Grok Dominates Wins with Heavily Formatted, Lengthy Response</vt:lpstr>
      <vt:lpstr>Grok Team:The Decisive Factor in Grok's Success and Failure</vt:lpstr>
      <vt:lpstr>Grok Performance Across Languages</vt:lpstr>
      <vt:lpstr>Models Where Grok Struggled</vt:lpstr>
      <vt:lpstr>Quantitative Analysis — Persian Losses</vt:lpstr>
      <vt:lpstr>Quantitative Analysis — English Losses</vt:lpstr>
      <vt:lpstr>Quantitative Analysis — English Losses</vt:lpstr>
      <vt:lpstr>Persian vs English — Comparative Summary</vt:lpstr>
      <vt:lpstr>Summary of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A.R.I</dc:creator>
  <cp:lastModifiedBy>negin latifi</cp:lastModifiedBy>
  <cp:revision>16</cp:revision>
  <dcterms:created xsi:type="dcterms:W3CDTF">2025-11-09T11:04:59Z</dcterms:created>
  <dcterms:modified xsi:type="dcterms:W3CDTF">2025-11-16T17:01:42Z</dcterms:modified>
</cp:coreProperties>
</file>